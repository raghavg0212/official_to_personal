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 snapToGrid="0">
      <p:cViewPr varScale="1">
        <p:scale>
          <a:sx n="63" d="100"/>
          <a:sy n="63" d="100"/>
        </p:scale>
        <p:origin x="6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91A9B-FB39-442E-A25E-2991EEAE020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8420A-8FB2-4EF8-8EEC-AE218F5E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9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9718DD-4AAF-4D8A-BA7D-B91CCB27E3C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276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3EE1-0540-46E9-BA23-9A3FDB7E1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0B7B9-B05C-42A3-AB4A-60D8FA456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A41E0-06D4-431C-ADD6-33E6992A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21733-B19B-4941-8468-CBE03418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A0C8F-25C5-4C93-BC5D-DB701D08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1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999A-02EF-444E-9655-BA4DC08F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22B09-DD83-4C52-B531-489D9E1B3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073C-8627-49B6-AA0D-A5BBD028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1DDD-C9FD-44C1-A8BD-1391ECB7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E5F2-5F0F-4071-A112-B708F88C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3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8471-9DF0-4606-BB97-F7597A286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C36CB-4EFF-489F-AD0E-89F3B3E7E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37184-B56B-4577-99BA-153A94A1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A7C76-2B80-4594-A4DC-EF1BEC8E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96A97-5153-4A76-A294-A6D23AD3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6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CAB0-69AB-494A-A514-0F1468E84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A72F-83E6-4F36-B0CE-86EF11681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41CA0-0675-4157-82CD-FEF5F5465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8E38D-12CC-408D-A7AF-AF76CBEE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46339-4202-4494-828D-EB02B639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05DF9-3454-46E1-9155-1D0A55A2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1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F29F-8AA7-4798-8D59-636EB014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CF297-41F7-40E0-8449-E65F56435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B742A-00A5-4D5C-B9AD-1C8B20B5E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E1FFF-C5DC-41A8-846C-F4522317C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562A1-939D-416B-A2C2-0D0BAE22C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7CE9E-FC60-4966-951A-1BC99C6B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AF9CD7-2E4E-4ACE-B534-6AA16120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3A649-CCD1-4BBE-B654-22C11B70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9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B99F-F627-462F-8D22-2527479F9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530E2-5C5C-4810-8D1B-E6825222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7AD83-B2B5-42B8-86D9-E9D7D5E7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DDE9F-2143-42E8-BC0D-61F4DA12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6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3FB42-23B7-4273-A49F-DB1CD920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B3EEE-B0F1-47BF-A6F3-BCB200D1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886EE-28EF-40BA-987D-04318691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2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D476-1F6D-4F07-8EF9-B308606D6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A723-6937-4636-9A13-214DC7C1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1A542-4FCB-4A42-BD48-1D5EB5576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4EBE9-E6A3-416B-A602-0620D78E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AFE7C-271E-4D64-80EE-EB905AF9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8435D-1349-4C6B-932D-5A224ABC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0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D39D-3A32-47C2-B654-A932BDD7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C6882-9273-4E98-AC1C-385B4AC3C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7A6A2-C2E5-4568-ADB8-E98971F24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4F2E5-8F25-45FB-BD90-DCC858B5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804FD-EB5E-465C-8F42-5CBF1E32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B4713-8406-4F9C-B8E5-7074461F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7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4FC7-52BE-4E3B-B46F-2A63A9FF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168CB-5941-482F-AB7D-1B6097BF0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268F3-EA59-4A28-9AC9-064EF52A2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ACD0D-19F1-4B8E-BD74-776778C69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74A78-B07E-4F8B-8C3E-A7E01E64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6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E3098-9D87-4C88-BDE8-7BA276822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EA8A9-519A-40EC-AAC3-9D8D2F2CE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17DF0-380C-4A85-9CD5-13C58B61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A9651-E918-4974-B6A7-F3F92547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3069D-4149-4C87-BA17-B11CE8DB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8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di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10918456" cy="533400"/>
          </a:xfrm>
          <a:prstGeom prst="rect">
            <a:avLst/>
          </a:prstGeom>
        </p:spPr>
        <p:txBody>
          <a:bodyPr anchor="t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1005115"/>
            <a:ext cx="10918456" cy="533400"/>
          </a:xfrm>
          <a:prstGeom prst="rect">
            <a:avLst/>
          </a:prstGeom>
        </p:spPr>
        <p:txBody>
          <a:bodyPr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85110E-A93C-E24B-BA01-8EFF0EF7007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73262"/>
                </a:solidFill>
                <a:effectLst/>
                <a:uLnTx/>
                <a:uFillTx/>
                <a:latin typeface="Georgi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73262"/>
                </a:solidFill>
                <a:effectLst/>
                <a:uLnTx/>
                <a:uFillTx/>
                <a:latin typeface="Georgia"/>
                <a:ea typeface="Georgia" charset="0"/>
                <a:cs typeface="Georgia" charset="0"/>
              </a:rPr>
              <a:t>® 2018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7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60744" y="-3629"/>
            <a:ext cx="10918456" cy="533400"/>
          </a:xfrm>
          <a:prstGeom prst="rect">
            <a:avLst/>
          </a:prstGeom>
        </p:spPr>
        <p:txBody>
          <a:bodyPr anchor="t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40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7A7F6-7A4F-47AD-9D90-67D8E7AF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C6DB7-9D07-4E07-A65B-67EA876B4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EC71-4335-4ED5-95AE-B650719EF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C61D2-86C4-41B6-A082-3AA61B95983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66BE5-30D4-488C-9807-049FE779A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5FE2E-B650-4510-87A4-C4CFBDED7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0CE03-78B9-4964-8DD3-7107AC628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7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75330" y="48452"/>
            <a:ext cx="11439784" cy="5221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400" b="1" dirty="0"/>
              <a:t>Sanjeeb Goldar</a:t>
            </a:r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2243578" y="713712"/>
            <a:ext cx="6828741" cy="252751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t"/>
          <a:lstStyle/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Techno-Functional Business Analyst and Transformation Consultant with 11+ years of experience delivering Business Analysis, Digital Transformation, GenAI Governance, AI Risk &amp; Compliance, Data Transformation, Process Mining, Enterprise Applications, and Finance Transformation initiatives across BFSI, Insurance and Pharmaceutical.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Specialized in GenAI Testing, AI Governance, AI Audit, Responsible AI, Data Governance, Business Process Optimization, UAT Management, and Enterprise Transformation programs involving Databricks, </a:t>
            </a:r>
            <a:r>
              <a:rPr lang="en-US" sz="1000" b="1" dirty="0" err="1">
                <a:solidFill>
                  <a:srgbClr val="073262"/>
                </a:solidFill>
                <a:ea typeface="ＭＳ Ｐゴシック"/>
              </a:rPr>
              <a:t>Celonis</a:t>
            </a: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, SAP S/4HANA, ServiceNow Enterprise Architecture, Guidewire </a:t>
            </a:r>
            <a:r>
              <a:rPr lang="en-US" sz="1000" b="1" dirty="0" err="1">
                <a:solidFill>
                  <a:srgbClr val="073262"/>
                </a:solidFill>
                <a:ea typeface="ＭＳ Ｐゴシック"/>
              </a:rPr>
              <a:t>PolicyCenter</a:t>
            </a: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, and Cloud-based Analytics platforms.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Extensive experience in Requirement Gathering, GAP Analysis, BPMN Process Modelling, BRD/FRD preparation, User Stories, RTM creation, Functional Testing, UAT Coordination, Defect Management, Stakeholder Management, Data Validation, Process Mining, Workflow Optimization, and Governance Reporting.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Strong understanding of AI Governance frameworks including NIST AI RMF, ISO/IEC 42001, EU AI Act, GDPR, DPDP, Responsible AI Principles, Model Governance, AI Risk Management, and AI Control Validation.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Experienced in GenAI Testing and Validation activities including Prompt Testing, Response Validation, Hallucination Assessment, Output Quality Validation, Retrieval-Augmented Generation (RAG) Validation, Prompt Injection Testing, Explainability Assessment, Human-in-the-Loop Validation, Bias Testing, AI Control Testing, and Governance Compliance Reviews.</a:t>
            </a:r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136672" y="2154248"/>
            <a:ext cx="2081360" cy="9128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Clr>
                <a:srgbClr val="9FA1A4"/>
              </a:buClr>
              <a:defRPr/>
            </a:pPr>
            <a:r>
              <a:rPr lang="en-GB" sz="1200" b="1" dirty="0">
                <a:solidFill>
                  <a:srgbClr val="073262"/>
                </a:solidFill>
                <a:ea typeface="ＭＳ Ｐゴシック"/>
              </a:rPr>
              <a:t>Lead Consultant 4B (Finance </a:t>
            </a:r>
            <a:r>
              <a:rPr lang="en-GB" sz="1200" b="1" dirty="0" err="1">
                <a:solidFill>
                  <a:srgbClr val="073262"/>
                </a:solidFill>
                <a:ea typeface="ＭＳ Ｐゴシック"/>
              </a:rPr>
              <a:t>Transformation|Databricks</a:t>
            </a:r>
            <a:r>
              <a:rPr lang="en-GB" sz="1200" b="1" dirty="0">
                <a:solidFill>
                  <a:srgbClr val="073262"/>
                </a:solidFill>
                <a:ea typeface="ＭＳ Ｐゴシック"/>
              </a:rPr>
              <a:t> BA| AI Governance)</a:t>
            </a:r>
          </a:p>
          <a:p>
            <a:pPr>
              <a:buClr>
                <a:srgbClr val="9FA1A4"/>
              </a:buClr>
              <a:defRPr/>
            </a:pPr>
            <a:r>
              <a:rPr lang="en-US" sz="1100" b="1" dirty="0">
                <a:solidFill>
                  <a:srgbClr val="073262"/>
                </a:solidFill>
                <a:ea typeface="ＭＳ Ｐゴシック"/>
              </a:rPr>
              <a:t>+91 9742982734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defRPr/>
            </a:pPr>
            <a:r>
              <a:rPr lang="en-US" sz="1100" dirty="0">
                <a:solidFill>
                  <a:srgbClr val="073262"/>
                </a:solidFill>
                <a:ea typeface="ＭＳ Ｐゴシック"/>
              </a:rPr>
              <a:t>Sanjeeb.goldar@genpact.com </a:t>
            </a:r>
          </a:p>
          <a:p>
            <a:pPr>
              <a:buClr>
                <a:srgbClr val="9FA1A4"/>
              </a:buClr>
              <a:defRPr/>
            </a:pPr>
            <a:endParaRPr lang="en-GB" sz="1100" kern="0" dirty="0">
              <a:solidFill>
                <a:srgbClr val="073262"/>
              </a:solidFill>
            </a:endParaRPr>
          </a:p>
          <a:p>
            <a:pPr>
              <a:buClr>
                <a:srgbClr val="9FA1A4"/>
              </a:buClr>
              <a:defRPr/>
            </a:pPr>
            <a:endParaRPr lang="en-GB" sz="1000" kern="0" dirty="0">
              <a:solidFill>
                <a:srgbClr val="07326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solidFill>
                <a:srgbClr val="07326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19092" y="516162"/>
            <a:ext cx="6810689" cy="197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600"/>
              </a:spcAft>
              <a:buClr>
                <a:srgbClr val="1AA2DC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Arial" charset="0"/>
              </a:rPr>
              <a:t>Professional background &amp; Profile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59834" y="3299657"/>
            <a:ext cx="6826357" cy="1975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600"/>
              </a:spcAft>
              <a:buClr>
                <a:srgbClr val="1AA2DC"/>
              </a:buClr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Arial" charset="0"/>
              </a:rPr>
              <a:t>Relevant Experience Summary 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9126934" y="487644"/>
            <a:ext cx="758" cy="6321904"/>
          </a:xfrm>
          <a:prstGeom prst="line">
            <a:avLst/>
          </a:prstGeom>
          <a:ln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203424" y="516162"/>
            <a:ext cx="15668" cy="6017988"/>
          </a:xfrm>
          <a:prstGeom prst="line">
            <a:avLst/>
          </a:prstGeom>
          <a:ln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9192185" y="516162"/>
            <a:ext cx="2882269" cy="20238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91440" tIns="0" rIns="91440" bIns="91440" anchor="t"/>
          <a:lstStyle>
            <a:defPPr>
              <a:defRPr lang="en-US"/>
            </a:defPPr>
            <a:lvl1pPr>
              <a:buClr>
                <a:prstClr val="white"/>
              </a:buClr>
              <a:buSzPct val="130000"/>
              <a:defRPr sz="1000" b="1">
                <a:solidFill>
                  <a:srgbClr val="F7941E"/>
                </a:solidFill>
                <a:latin typeface="Arial" pitchFamily="34" charset="0"/>
                <a:ea typeface="ＭＳ Ｐゴシック" pitchFamily="34" charset="-128"/>
                <a:cs typeface="Arial" charset="0"/>
              </a:defRPr>
            </a:lvl1pPr>
            <a:lvl2pPr marL="742950" indent="-285750" eaLnBrk="0" hangingPunct="0">
              <a:defRPr sz="1400" b="1"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 b="1"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 b="1"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 b="1"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130000"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Georgia"/>
                <a:ea typeface="ＭＳ Ｐゴシック" pitchFamily="34" charset="-128"/>
                <a:cs typeface="Arial" charset="0"/>
              </a:rPr>
              <a:t>      </a:t>
            </a:r>
            <a:r>
              <a:rPr lang="en-GB" sz="13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Added value for the Clients</a:t>
            </a:r>
            <a:endParaRPr kumimoji="0" lang="en-GB" sz="1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Georgia"/>
              <a:ea typeface="ＭＳ Ｐゴシック" pitchFamily="34" charset="-128"/>
              <a:cs typeface="Arial" charset="0"/>
            </a:endParaRPr>
          </a:p>
          <a:p>
            <a:pPr lvl="0">
              <a:buClr>
                <a:srgbClr val="FF555F"/>
              </a:buClr>
              <a:buSzPct val="100000"/>
              <a:defRPr/>
            </a:pPr>
            <a:r>
              <a:rPr lang="en-GB" sz="1100" dirty="0">
                <a:solidFill>
                  <a:srgbClr val="073262"/>
                </a:solidFill>
                <a:latin typeface="+mn-lt"/>
                <a:ea typeface="+mn-ea"/>
                <a:cs typeface="Arial" panose="020B0604020202020204" pitchFamily="34" charset="0"/>
              </a:rPr>
              <a:t>Enabled Organizations to improve operational efficiency , Strengthen AI governance, enhance regulatory compliances, optimize business process, , improve data quality and traceability, reduce operational risks, strengthen audit readiness, and drive responsible adoption of Gen AI technology through business analysis and Governance practices.</a:t>
            </a:r>
            <a:endParaRPr lang="en-US" sz="1100" dirty="0">
              <a:solidFill>
                <a:srgbClr val="07326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9192185" y="2723230"/>
            <a:ext cx="2711420" cy="342105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charset="0"/>
                <a:ea typeface="ＭＳ Ｐゴシック"/>
                <a:cs typeface="ＭＳ Ｐゴシック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FA1A4"/>
              </a:buClr>
              <a:buSzTx/>
              <a:buFontTx/>
              <a:buNone/>
              <a:tabLst/>
              <a:defRPr/>
            </a:pPr>
            <a:r>
              <a:rPr lang="en-GB" sz="1100" dirty="0">
                <a:latin typeface="Georgia" panose="02040502050405020303" pitchFamily="18" charset="0"/>
                <a:ea typeface="ＭＳ Ｐゴシック" pitchFamily="34" charset="-128"/>
                <a:cs typeface="Arial" charset="0"/>
              </a:rPr>
              <a:t>Skills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GenAI Testing and validation.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GenAI Governance, compliance and audit.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Databricks &amp; Data Validation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Celonis Process Mining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BPMN Process Modelling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SAP S/4HANA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Guidewire PolicyCenter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Data Governance &amp; Lineage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BRD / FRD / User Stories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UAT &amp; Functional Testing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Reconciliation &amp; Workflow Validation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SAP HANA &amp; MySQL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API Testing &amp; REST APIs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Agile / Scrum / Jira / Confluence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Stakeholder Management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it-IT" sz="1000" dirty="0">
                <a:solidFill>
                  <a:srgbClr val="073262"/>
                </a:solidFill>
                <a:latin typeface="+mn-lt"/>
                <a:cs typeface="+mn-cs"/>
              </a:rPr>
              <a:t>GenAI Risk &amp; Compliance</a:t>
            </a:r>
            <a:endParaRPr lang="en-US" sz="1000" dirty="0">
              <a:solidFill>
                <a:srgbClr val="073262"/>
              </a:solidFill>
              <a:latin typeface="+mn-lt"/>
              <a:cs typeface="+mn-cs"/>
            </a:endParaRP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136671" y="3067072"/>
            <a:ext cx="1968318" cy="17214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buClr>
                <a:srgbClr val="9FA1A4"/>
              </a:buClr>
              <a:defRPr/>
            </a:pPr>
            <a:r>
              <a:rPr lang="en-GB" sz="1100" b="1" dirty="0">
                <a:latin typeface="Georgia" panose="02040502050405020303" pitchFamily="18" charset="0"/>
                <a:ea typeface="ＭＳ Ｐゴシック" pitchFamily="34" charset="-128"/>
                <a:cs typeface="Arial" charset="0"/>
              </a:rPr>
              <a:t>Industry /Domain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1100" dirty="0">
                <a:solidFill>
                  <a:srgbClr val="073262"/>
                </a:solidFill>
                <a:ea typeface="ＭＳ Ｐゴシック"/>
              </a:rPr>
              <a:t>BFSI &amp; Pharmaceutical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1100" dirty="0">
                <a:solidFill>
                  <a:srgbClr val="073262"/>
                </a:solidFill>
                <a:ea typeface="ＭＳ Ｐゴシック"/>
              </a:rPr>
              <a:t>Insurance Domain.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1100">
                <a:solidFill>
                  <a:srgbClr val="073262"/>
                </a:solidFill>
                <a:ea typeface="ＭＳ Ｐゴシック"/>
              </a:rPr>
              <a:t>RTR Transformation</a:t>
            </a:r>
            <a:endParaRPr lang="en-US" altLang="en-US" sz="1100" dirty="0">
              <a:solidFill>
                <a:srgbClr val="073262"/>
              </a:solidFill>
              <a:ea typeface="ＭＳ Ｐゴシック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1100" dirty="0">
                <a:solidFill>
                  <a:srgbClr val="073262"/>
                </a:solidFill>
                <a:ea typeface="ＭＳ Ｐゴシック"/>
              </a:rPr>
              <a:t>Digital Transformation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1100" dirty="0">
                <a:solidFill>
                  <a:srgbClr val="073262"/>
                </a:solidFill>
                <a:ea typeface="ＭＳ Ｐゴシック"/>
              </a:rPr>
              <a:t>Databricks &amp; Data Governance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1100" dirty="0">
                <a:solidFill>
                  <a:srgbClr val="073262"/>
                </a:solidFill>
                <a:ea typeface="ＭＳ Ｐゴシック"/>
              </a:rPr>
              <a:t>Process Mining &amp; BPMN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1100" dirty="0">
                <a:solidFill>
                  <a:srgbClr val="073262"/>
                </a:solidFill>
                <a:ea typeface="ＭＳ Ｐゴシック"/>
              </a:rPr>
              <a:t>GenAI Risk &amp; Compliance</a:t>
            </a:r>
            <a:endParaRPr lang="en-GB" altLang="en-US" sz="1200" dirty="0">
              <a:solidFill>
                <a:srgbClr val="073262"/>
              </a:solidFill>
              <a:ea typeface="ＭＳ Ｐゴシック"/>
            </a:endParaRPr>
          </a:p>
          <a:p>
            <a:pPr marL="193675" lvl="0" indent="-193675" eaLnBrk="0" hangingPunct="0">
              <a:spcBef>
                <a:spcPts val="200"/>
              </a:spcBef>
              <a:buClr>
                <a:srgbClr val="FF555F"/>
              </a:buClr>
              <a:buFont typeface="Wingdings" pitchFamily="2" charset="2"/>
              <a:buChar char="§"/>
              <a:tabLst>
                <a:tab pos="952500" algn="l"/>
                <a:tab pos="2098675" algn="l"/>
                <a:tab pos="3616325" algn="r"/>
              </a:tabLst>
              <a:defRPr/>
            </a:pPr>
            <a:endParaRPr lang="en-GB" sz="900" kern="0" dirty="0">
              <a:solidFill>
                <a:srgbClr val="073262"/>
              </a:solidFill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44521" y="4788504"/>
            <a:ext cx="1994410" cy="155333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tabLst/>
              <a:defRPr/>
            </a:pPr>
            <a:r>
              <a:rPr lang="en-US" sz="1100" b="1" dirty="0">
                <a:latin typeface="Georgia" panose="02040502050405020303" pitchFamily="18" charset="0"/>
                <a:ea typeface="ＭＳ Ｐゴシック" pitchFamily="34" charset="-128"/>
                <a:cs typeface="Arial" charset="0"/>
              </a:rPr>
              <a:t>Roles</a:t>
            </a:r>
            <a:endParaRPr lang="en-GB" sz="1100" b="1" dirty="0">
              <a:latin typeface="Georgia" panose="02040502050405020303" pitchFamily="18" charset="0"/>
              <a:ea typeface="ＭＳ Ｐゴシック" pitchFamily="34" charset="-128"/>
              <a:cs typeface="Arial" charset="0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solidFill>
                  <a:srgbClr val="073262"/>
                </a:solidFill>
                <a:ea typeface="ＭＳ Ｐゴシック"/>
              </a:rPr>
              <a:t>Business Analyst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solidFill>
                  <a:srgbClr val="073262"/>
                </a:solidFill>
                <a:ea typeface="ＭＳ Ｐゴシック"/>
              </a:rPr>
              <a:t>RTR/PTP Transformation Consultant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solidFill>
                  <a:srgbClr val="073262"/>
                </a:solidFill>
                <a:ea typeface="ＭＳ Ｐゴシック"/>
              </a:rPr>
              <a:t>Databricks Functional Analyst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solidFill>
                  <a:srgbClr val="073262"/>
                </a:solidFill>
                <a:ea typeface="ＭＳ Ｐゴシック"/>
              </a:rPr>
              <a:t>PMO &amp; UAT Lead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solidFill>
                  <a:srgbClr val="073262"/>
                </a:solidFill>
                <a:ea typeface="ＭＳ Ｐゴシック"/>
              </a:rPr>
              <a:t>GenAI Risk &amp; Compliance Auditor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dirty="0">
                <a:solidFill>
                  <a:srgbClr val="073262"/>
                </a:solidFill>
                <a:ea typeface="ＭＳ Ｐゴシック"/>
              </a:rPr>
              <a:t>Process Mining Consultant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F0D52-3A1E-4FE2-9150-01BBF6B65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58" y="516162"/>
            <a:ext cx="1654364" cy="1598182"/>
          </a:xfrm>
          <a:prstGeom prst="rect">
            <a:avLst/>
          </a:prstGeom>
        </p:spPr>
      </p:pic>
      <p:sp>
        <p:nvSpPr>
          <p:cNvPr id="11" name="Text Box 6">
            <a:extLst>
              <a:ext uri="{FF2B5EF4-FFF2-40B4-BE49-F238E27FC236}">
                <a16:creationId xmlns:a16="http://schemas.microsoft.com/office/drawing/2014/main" id="{6EECC17F-846D-C118-7158-090C5783C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578" y="3555634"/>
            <a:ext cx="6828741" cy="258865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t"/>
          <a:lstStyle/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Delivered Business Analysis and Digital Transformation initiatives across GenAI Governance, Databricks, SAP S/4HANA RTR, </a:t>
            </a:r>
            <a:r>
              <a:rPr lang="en-US" sz="1000" b="1" dirty="0" err="1">
                <a:solidFill>
                  <a:srgbClr val="073262"/>
                </a:solidFill>
                <a:ea typeface="ＭＳ Ｐゴシック"/>
              </a:rPr>
              <a:t>Celonis</a:t>
            </a: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 Process Mining, and Enterprise Reporting programs.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Supported GenAI Governance, AI Risk Management, AI Testing, AI Compliance Reviews, AI Control Validation, Audit Readiness, and Responsible AI initiatives aligned with NIST AI RMF and ISO/IEC 42001.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Performed GenAI Testing activities including Prompt Testing, Response Validation, Hallucination Assessment, RAG Validation, Prompt Injection Testing, and Functional Testing of AI-enabled applications.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Delivered Databricks Data Transformation initiatives involving Data Lineage, Source-to-Target Mapping, Data Validation, Reconciliation, Reporting Automation, and Dashboard Validation.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Delivered SAP S/4HANA RTR Transformation programs involving Journal Validation, Financial Reconciliation, Month-End Close, Financial Reporting, Workflow Automation, and Audit Readiness.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Implemented </a:t>
            </a:r>
            <a:r>
              <a:rPr lang="en-US" sz="1000" b="1" dirty="0" err="1">
                <a:solidFill>
                  <a:srgbClr val="073262"/>
                </a:solidFill>
                <a:ea typeface="ＭＳ Ｐゴシック"/>
              </a:rPr>
              <a:t>Celonis</a:t>
            </a: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 Process Mining solutions for process analysis, KPI monitoring, bottleneck identification, workflow optimization, and continuous improvement.</a:t>
            </a:r>
          </a:p>
          <a:p>
            <a:pPr marL="171450" indent="-171450" fontAlgn="base">
              <a:spcBef>
                <a:spcPts val="2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1000" b="1" dirty="0">
                <a:solidFill>
                  <a:srgbClr val="073262"/>
                </a:solidFill>
                <a:ea typeface="ＭＳ Ｐゴシック"/>
              </a:rPr>
              <a:t>Developed BRDs, FRDs, User Stories, BPMN Process Flows, RTMs, UAT Test Cases, and Governance Artefacts while coordinating business, technology, audit, and compliance stakeholders.</a:t>
            </a:r>
          </a:p>
        </p:txBody>
      </p:sp>
    </p:spTree>
    <p:extLst>
      <p:ext uri="{BB962C8B-B14F-4D97-AF65-F5344CB8AC3E}">
        <p14:creationId xmlns:p14="http://schemas.microsoft.com/office/powerpoint/2010/main" val="397593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641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굴림</vt:lpstr>
      <vt:lpstr>ＭＳ Ｐゴシック</vt:lpstr>
      <vt:lpstr>Arial</vt:lpstr>
      <vt:lpstr>Calibri</vt:lpstr>
      <vt:lpstr>Calibri Light</vt:lpstr>
      <vt:lpstr>Georgia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Chadha, Muktesh</dc:creator>
  <cp:lastModifiedBy>Gupta, Shweta</cp:lastModifiedBy>
  <cp:revision>349</cp:revision>
  <dcterms:created xsi:type="dcterms:W3CDTF">2019-10-15T18:38:46Z</dcterms:created>
  <dcterms:modified xsi:type="dcterms:W3CDTF">2026-07-15T15:52:50Z</dcterms:modified>
</cp:coreProperties>
</file>